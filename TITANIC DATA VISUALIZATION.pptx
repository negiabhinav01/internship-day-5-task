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C3B06-C285-AE5B-39CB-E01111295F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E7E773-AF6A-4042-3DD7-92D95BA7B9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9BEA0CB-38F5-9000-E3BB-B6D8F02839B4}"/>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5" name="Footer Placeholder 4">
            <a:extLst>
              <a:ext uri="{FF2B5EF4-FFF2-40B4-BE49-F238E27FC236}">
                <a16:creationId xmlns:a16="http://schemas.microsoft.com/office/drawing/2014/main" id="{A550B804-7617-0C81-EF38-03A5A5BDF6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EE9D2C-4708-3A21-CD2B-DE74BE79D378}"/>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3849383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39E61-57F7-4856-9BF3-6F4BDEDDEB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0EAA9F-8038-3CCA-04A5-1B661EAE7D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9F0E0B-03FB-0852-CCAB-456EAD1C5DC0}"/>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5" name="Footer Placeholder 4">
            <a:extLst>
              <a:ext uri="{FF2B5EF4-FFF2-40B4-BE49-F238E27FC236}">
                <a16:creationId xmlns:a16="http://schemas.microsoft.com/office/drawing/2014/main" id="{16573791-231B-8C8F-BE86-6A888E2A53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893AAB-3E1F-DD3B-763E-65B4F05543CD}"/>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1646370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95316-A66D-9AD2-606C-50BD7E1DC4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857096-7343-5B4D-B658-79226B070B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4755BA-F57A-8A8B-B818-02F6A616A35F}"/>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5" name="Footer Placeholder 4">
            <a:extLst>
              <a:ext uri="{FF2B5EF4-FFF2-40B4-BE49-F238E27FC236}">
                <a16:creationId xmlns:a16="http://schemas.microsoft.com/office/drawing/2014/main" id="{458D8419-6391-AE89-CCFA-3054CD3415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F5BCE8-8CD0-DAF0-8D50-4213079C867B}"/>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1250706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B1B48-4ADB-279C-5D3A-ADF356B0B7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F7F880-0C41-E9B2-6C9D-E11C1372D1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109163E-F293-1DD8-CBDE-AC42678669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D070E32-6E72-4C6A-22E3-E1B458BEDC5C}"/>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6" name="Footer Placeholder 5">
            <a:extLst>
              <a:ext uri="{FF2B5EF4-FFF2-40B4-BE49-F238E27FC236}">
                <a16:creationId xmlns:a16="http://schemas.microsoft.com/office/drawing/2014/main" id="{A85F8528-D736-DE2C-186F-25816102A1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E3F03D-C839-C5CD-B224-6BA636B89115}"/>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684542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4619B-8FDC-40A4-24E8-CFD21A0A37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311615-23D3-EE3E-562D-0392FADA90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3FF0D0-7A42-F57A-646A-389B49226B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5431DF-3FF2-8210-6E5E-D8FFE954E9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E4F2F7-D82F-EC33-50C3-352328E397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49314E-44EF-413E-8354-A3F97CF30A33}"/>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8" name="Footer Placeholder 7">
            <a:extLst>
              <a:ext uri="{FF2B5EF4-FFF2-40B4-BE49-F238E27FC236}">
                <a16:creationId xmlns:a16="http://schemas.microsoft.com/office/drawing/2014/main" id="{C2A5D3FE-436D-CEE5-A680-B0E98B1C18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5B4B8A-15CC-E0DE-9B4F-21AB028E883B}"/>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390418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B197B-E240-2D41-2F7F-543FB045A6E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26CEB1-43A4-7129-ADCB-884051205D87}"/>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4" name="Footer Placeholder 3">
            <a:extLst>
              <a:ext uri="{FF2B5EF4-FFF2-40B4-BE49-F238E27FC236}">
                <a16:creationId xmlns:a16="http://schemas.microsoft.com/office/drawing/2014/main" id="{0FBD4D32-ADE0-89D6-762C-915343FB15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FC1BA6A-FBB5-423D-DB5E-E99F2B30436C}"/>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3137448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C2A84B-0023-6F67-F881-4C6680D59682}"/>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3" name="Footer Placeholder 2">
            <a:extLst>
              <a:ext uri="{FF2B5EF4-FFF2-40B4-BE49-F238E27FC236}">
                <a16:creationId xmlns:a16="http://schemas.microsoft.com/office/drawing/2014/main" id="{56200D81-1438-FE98-11DD-6434A6C12E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EC274DE-E6CD-3FAD-6421-F73E2CCCF993}"/>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44977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33778-6A23-6CFC-4BC3-6EC16C2C16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D4BF00-5F3B-8D06-1743-451D49F421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39432D-BAC0-923F-AF12-58452CB45A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B247A8-07B7-20DC-7EED-85F6B1FF57D9}"/>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6" name="Footer Placeholder 5">
            <a:extLst>
              <a:ext uri="{FF2B5EF4-FFF2-40B4-BE49-F238E27FC236}">
                <a16:creationId xmlns:a16="http://schemas.microsoft.com/office/drawing/2014/main" id="{122849EB-E4F0-94F2-378B-1B898BC21E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DAD3C6-14B7-72EF-9D79-9CDDFDA9FF43}"/>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3147165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24C28-04AB-C77D-F151-7892AC10AC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3D6B3C-5C1F-BD3E-7601-62C454FC67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D1C173-F4E7-B501-6435-2EB1A68A25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85F0ED-A123-FA3D-7CD7-515D899E53E8}"/>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6" name="Footer Placeholder 5">
            <a:extLst>
              <a:ext uri="{FF2B5EF4-FFF2-40B4-BE49-F238E27FC236}">
                <a16:creationId xmlns:a16="http://schemas.microsoft.com/office/drawing/2014/main" id="{A0DCE473-AE41-9DA4-1BCD-4CAFA77C3B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EABB47-CD03-0D77-A674-D6343734E445}"/>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3532358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3AEAE-D663-9A2A-8208-62337F8E85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A8A0CB-5621-ABAE-B427-E73A5FC6CD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6BF87D-AFE9-930D-4CC5-FA07D42E938A}"/>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5" name="Footer Placeholder 4">
            <a:extLst>
              <a:ext uri="{FF2B5EF4-FFF2-40B4-BE49-F238E27FC236}">
                <a16:creationId xmlns:a16="http://schemas.microsoft.com/office/drawing/2014/main" id="{DD84764B-5517-B75A-7F3A-B86AF5B2C7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4ED834-3E32-DBC9-CF7C-F20398A87216}"/>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2502728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9A79E7-9CBF-0D5A-D682-37F73B6252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8F8018-8938-1379-6DA3-E52E0232C7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A7015D-006C-1710-15AC-F0772C7DCCE8}"/>
              </a:ext>
            </a:extLst>
          </p:cNvPr>
          <p:cNvSpPr>
            <a:spLocks noGrp="1"/>
          </p:cNvSpPr>
          <p:nvPr>
            <p:ph type="dt" sz="half" idx="10"/>
          </p:nvPr>
        </p:nvSpPr>
        <p:spPr/>
        <p:txBody>
          <a:bodyPr/>
          <a:lstStyle/>
          <a:p>
            <a:fld id="{06C66305-D151-43DA-BBF9-30276F60054C}" type="datetimeFigureOut">
              <a:rPr lang="en-IN" smtClean="0"/>
              <a:t>14-04-2025</a:t>
            </a:fld>
            <a:endParaRPr lang="en-IN"/>
          </a:p>
        </p:txBody>
      </p:sp>
      <p:sp>
        <p:nvSpPr>
          <p:cNvPr id="5" name="Footer Placeholder 4">
            <a:extLst>
              <a:ext uri="{FF2B5EF4-FFF2-40B4-BE49-F238E27FC236}">
                <a16:creationId xmlns:a16="http://schemas.microsoft.com/office/drawing/2014/main" id="{34C5F66D-8119-E7C8-9E4C-1FC21078B7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305E29-BED5-AB4B-5CC1-065AFB3F4286}"/>
              </a:ext>
            </a:extLst>
          </p:cNvPr>
          <p:cNvSpPr>
            <a:spLocks noGrp="1"/>
          </p:cNvSpPr>
          <p:nvPr>
            <p:ph type="sldNum" sz="quarter" idx="12"/>
          </p:nvPr>
        </p:nvSpPr>
        <p:spPr/>
        <p:txBody>
          <a:bodyPr/>
          <a:lstStyle/>
          <a:p>
            <a:fld id="{AA2C962C-7C5E-4005-A5E8-E81F333AE980}" type="slidenum">
              <a:rPr lang="en-IN" smtClean="0"/>
              <a:t>‹#›</a:t>
            </a:fld>
            <a:endParaRPr lang="en-IN"/>
          </a:p>
        </p:txBody>
      </p:sp>
    </p:spTree>
    <p:extLst>
      <p:ext uri="{BB962C8B-B14F-4D97-AF65-F5344CB8AC3E}">
        <p14:creationId xmlns:p14="http://schemas.microsoft.com/office/powerpoint/2010/main" val="3709100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E911A9-63AC-AD35-B75D-B8EB83F998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4B8FCE-5BA1-6AB0-4375-C9FE400D0A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DBE11C-CF33-87E2-B0A0-C800325E96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C66305-D151-43DA-BBF9-30276F60054C}" type="datetimeFigureOut">
              <a:rPr lang="en-IN" smtClean="0"/>
              <a:t>14-04-2025</a:t>
            </a:fld>
            <a:endParaRPr lang="en-IN"/>
          </a:p>
        </p:txBody>
      </p:sp>
      <p:sp>
        <p:nvSpPr>
          <p:cNvPr id="5" name="Footer Placeholder 4">
            <a:extLst>
              <a:ext uri="{FF2B5EF4-FFF2-40B4-BE49-F238E27FC236}">
                <a16:creationId xmlns:a16="http://schemas.microsoft.com/office/drawing/2014/main" id="{D6F9152F-A5E5-911D-EAC3-B8B3831347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305EA19-C28C-9676-7CA5-A2119EDF51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2C962C-7C5E-4005-A5E8-E81F333AE980}" type="slidenum">
              <a:rPr lang="en-IN" smtClean="0"/>
              <a:t>‹#›</a:t>
            </a:fld>
            <a:endParaRPr lang="en-IN"/>
          </a:p>
        </p:txBody>
      </p:sp>
    </p:spTree>
    <p:extLst>
      <p:ext uri="{BB962C8B-B14F-4D97-AF65-F5344CB8AC3E}">
        <p14:creationId xmlns:p14="http://schemas.microsoft.com/office/powerpoint/2010/main" val="2051063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582C3-18F3-648F-FCA2-F3865FCC5CAD}"/>
              </a:ext>
            </a:extLst>
          </p:cNvPr>
          <p:cNvSpPr>
            <a:spLocks noGrp="1"/>
          </p:cNvSpPr>
          <p:nvPr>
            <p:ph type="ctrTitle"/>
          </p:nvPr>
        </p:nvSpPr>
        <p:spPr/>
        <p:txBody>
          <a:bodyPr/>
          <a:lstStyle/>
          <a:p>
            <a:r>
              <a:rPr lang="en-IN" dirty="0"/>
              <a:t>TITANIC DATA VISUALIZATION</a:t>
            </a:r>
          </a:p>
        </p:txBody>
      </p:sp>
      <p:sp>
        <p:nvSpPr>
          <p:cNvPr id="3" name="Subtitle 2">
            <a:extLst>
              <a:ext uri="{FF2B5EF4-FFF2-40B4-BE49-F238E27FC236}">
                <a16:creationId xmlns:a16="http://schemas.microsoft.com/office/drawing/2014/main" id="{F22C8763-D483-B414-429A-64D7F88999CC}"/>
              </a:ext>
            </a:extLst>
          </p:cNvPr>
          <p:cNvSpPr>
            <a:spLocks noGrp="1"/>
          </p:cNvSpPr>
          <p:nvPr>
            <p:ph type="subTitle" idx="1"/>
          </p:nvPr>
        </p:nvSpPr>
        <p:spPr/>
        <p:txBody>
          <a:bodyPr/>
          <a:lstStyle/>
          <a:p>
            <a:r>
              <a:rPr lang="en-IN" dirty="0"/>
              <a:t>EXPLORATORY DATA ANALYSIS WITH PLOTS</a:t>
            </a:r>
          </a:p>
        </p:txBody>
      </p:sp>
    </p:spTree>
    <p:extLst>
      <p:ext uri="{BB962C8B-B14F-4D97-AF65-F5344CB8AC3E}">
        <p14:creationId xmlns:p14="http://schemas.microsoft.com/office/powerpoint/2010/main" val="1900855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42282-2237-8D3E-348A-468204CC7FDD}"/>
              </a:ext>
            </a:extLst>
          </p:cNvPr>
          <p:cNvSpPr>
            <a:spLocks noGrp="1"/>
          </p:cNvSpPr>
          <p:nvPr>
            <p:ph type="ctrTitle"/>
          </p:nvPr>
        </p:nvSpPr>
        <p:spPr>
          <a:xfrm>
            <a:off x="1458012" y="-216816"/>
            <a:ext cx="9144000" cy="2253006"/>
          </a:xfrm>
        </p:spPr>
        <p:txBody>
          <a:bodyPr>
            <a:normAutofit/>
          </a:bodyPr>
          <a:lstStyle/>
          <a:p>
            <a:r>
              <a:rPr lang="en-US" sz="4400" b="0" i="0" dirty="0">
                <a:solidFill>
                  <a:srgbClr val="1F1F1F"/>
                </a:solidFill>
                <a:effectLst/>
                <a:latin typeface="Roboto" panose="02000000000000000000" pitchFamily="2" charset="0"/>
              </a:rPr>
              <a:t>Overview of the Titanic Dataset</a:t>
            </a:r>
            <a:br>
              <a:rPr lang="en-US" b="0" i="0" dirty="0">
                <a:solidFill>
                  <a:srgbClr val="1F1F1F"/>
                </a:solidFill>
                <a:effectLst/>
                <a:latin typeface="Roboto" panose="02000000000000000000" pitchFamily="2" charset="0"/>
              </a:rPr>
            </a:br>
            <a:endParaRPr lang="en-IN" dirty="0"/>
          </a:p>
        </p:txBody>
      </p:sp>
      <p:sp>
        <p:nvSpPr>
          <p:cNvPr id="3" name="Subtitle 2">
            <a:extLst>
              <a:ext uri="{FF2B5EF4-FFF2-40B4-BE49-F238E27FC236}">
                <a16:creationId xmlns:a16="http://schemas.microsoft.com/office/drawing/2014/main" id="{90307B55-079A-A50A-C786-AA9463CEF43B}"/>
              </a:ext>
            </a:extLst>
          </p:cNvPr>
          <p:cNvSpPr>
            <a:spLocks noGrp="1"/>
          </p:cNvSpPr>
          <p:nvPr>
            <p:ph type="subTitle" idx="1"/>
          </p:nvPr>
        </p:nvSpPr>
        <p:spPr>
          <a:xfrm>
            <a:off x="1168924" y="1923068"/>
            <a:ext cx="9499076" cy="3334732"/>
          </a:xfrm>
        </p:spPr>
        <p:txBody>
          <a:bodyPr/>
          <a:lstStyle/>
          <a:p>
            <a:pPr algn="l"/>
            <a:r>
              <a:rPr lang="en-US" b="0" i="0" dirty="0">
                <a:solidFill>
                  <a:srgbClr val="1F1F1F"/>
                </a:solidFill>
                <a:effectLst/>
                <a:latin typeface="Roboto" panose="02000000000000000000" pitchFamily="2" charset="0"/>
              </a:rPr>
              <a:t>The Titanic dataset includes demographics and passenger information from 891 of the 2,224 passengers and crew on board the Titanic.</a:t>
            </a:r>
            <a:endParaRPr lang="en-IN" dirty="0"/>
          </a:p>
        </p:txBody>
      </p:sp>
    </p:spTree>
    <p:extLst>
      <p:ext uri="{BB962C8B-B14F-4D97-AF65-F5344CB8AC3E}">
        <p14:creationId xmlns:p14="http://schemas.microsoft.com/office/powerpoint/2010/main" val="2922651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BB210CA-0BCE-622B-0B08-AC0D0C5AA78C}"/>
              </a:ext>
            </a:extLst>
          </p:cNvPr>
          <p:cNvSpPr>
            <a:spLocks noGrp="1"/>
          </p:cNvSpPr>
          <p:nvPr>
            <p:ph type="subTitle" idx="1"/>
          </p:nvPr>
        </p:nvSpPr>
        <p:spPr>
          <a:xfrm>
            <a:off x="245097" y="75414"/>
            <a:ext cx="11585541" cy="6655324"/>
          </a:xfrm>
        </p:spPr>
        <p:txBody>
          <a:bodyPr/>
          <a:lstStyle/>
          <a:p>
            <a:endParaRPr lang="en-IN" dirty="0"/>
          </a:p>
          <a:p>
            <a:endParaRPr lang="en-IN" dirty="0"/>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5EDD0CE7-EA8C-BCB6-FC8C-DDD5BC6C9F19}"/>
              </a:ext>
            </a:extLst>
          </p:cNvPr>
          <p:cNvPicPr>
            <a:picLocks noChangeAspect="1"/>
          </p:cNvPicPr>
          <p:nvPr/>
        </p:nvPicPr>
        <p:blipFill>
          <a:blip r:embed="rId2"/>
          <a:stretch>
            <a:fillRect/>
          </a:stretch>
        </p:blipFill>
        <p:spPr>
          <a:xfrm>
            <a:off x="725864" y="0"/>
            <a:ext cx="9511645" cy="2045616"/>
          </a:xfrm>
          <a:prstGeom prst="rect">
            <a:avLst/>
          </a:prstGeom>
        </p:spPr>
      </p:pic>
      <p:pic>
        <p:nvPicPr>
          <p:cNvPr id="7" name="Picture 6">
            <a:extLst>
              <a:ext uri="{FF2B5EF4-FFF2-40B4-BE49-F238E27FC236}">
                <a16:creationId xmlns:a16="http://schemas.microsoft.com/office/drawing/2014/main" id="{8C73EC81-0257-813C-E32B-9EAD55126693}"/>
              </a:ext>
            </a:extLst>
          </p:cNvPr>
          <p:cNvPicPr>
            <a:picLocks noChangeAspect="1"/>
          </p:cNvPicPr>
          <p:nvPr/>
        </p:nvPicPr>
        <p:blipFill>
          <a:blip r:embed="rId3"/>
          <a:stretch>
            <a:fillRect/>
          </a:stretch>
        </p:blipFill>
        <p:spPr>
          <a:xfrm>
            <a:off x="989813" y="2112417"/>
            <a:ext cx="9511645" cy="2846330"/>
          </a:xfrm>
          <a:prstGeom prst="rect">
            <a:avLst/>
          </a:prstGeom>
        </p:spPr>
      </p:pic>
      <p:sp>
        <p:nvSpPr>
          <p:cNvPr id="9" name="TextBox 8">
            <a:extLst>
              <a:ext uri="{FF2B5EF4-FFF2-40B4-BE49-F238E27FC236}">
                <a16:creationId xmlns:a16="http://schemas.microsoft.com/office/drawing/2014/main" id="{76B4682A-E244-0295-4D09-8247C150E482}"/>
              </a:ext>
            </a:extLst>
          </p:cNvPr>
          <p:cNvSpPr txBox="1"/>
          <p:nvPr/>
        </p:nvSpPr>
        <p:spPr>
          <a:xfrm>
            <a:off x="1340963" y="4958747"/>
            <a:ext cx="10046616" cy="646331"/>
          </a:xfrm>
          <a:prstGeom prst="rect">
            <a:avLst/>
          </a:prstGeom>
          <a:noFill/>
        </p:spPr>
        <p:txBody>
          <a:bodyPr wrap="square">
            <a:spAutoFit/>
          </a:bodyPr>
          <a:lstStyle/>
          <a:p>
            <a:r>
              <a:rPr lang="en-US" b="1" i="0" dirty="0">
                <a:solidFill>
                  <a:srgbClr val="1F1F1F"/>
                </a:solidFill>
                <a:effectLst/>
                <a:latin typeface="Roboto" panose="02000000000000000000" pitchFamily="2" charset="0"/>
              </a:rPr>
              <a:t>Insight:</a:t>
            </a:r>
            <a:r>
              <a:rPr lang="en-US" b="0" i="0" dirty="0">
                <a:solidFill>
                  <a:srgbClr val="1F1F1F"/>
                </a:solidFill>
                <a:effectLst/>
                <a:latin typeface="Roboto" panose="02000000000000000000" pitchFamily="2" charset="0"/>
              </a:rPr>
              <a:t> Higher classes (1st class) typically have higher survival rates, possibly due to better access to lifeboats and other safety mechanisms.</a:t>
            </a:r>
            <a:endParaRPr lang="en-IN" dirty="0"/>
          </a:p>
        </p:txBody>
      </p:sp>
    </p:spTree>
    <p:extLst>
      <p:ext uri="{BB962C8B-B14F-4D97-AF65-F5344CB8AC3E}">
        <p14:creationId xmlns:p14="http://schemas.microsoft.com/office/powerpoint/2010/main" val="947181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44DBF8-2B05-B282-ED18-64ACB259B724}"/>
              </a:ext>
            </a:extLst>
          </p:cNvPr>
          <p:cNvSpPr>
            <a:spLocks noGrp="1"/>
          </p:cNvSpPr>
          <p:nvPr>
            <p:ph type="subTitle" idx="1"/>
          </p:nvPr>
        </p:nvSpPr>
        <p:spPr>
          <a:xfrm>
            <a:off x="216815" y="131975"/>
            <a:ext cx="11821213" cy="6617617"/>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r>
              <a:rPr lang="en-US" sz="1800" b="1" i="0" dirty="0">
                <a:solidFill>
                  <a:srgbClr val="1F1F1F"/>
                </a:solidFill>
                <a:effectLst/>
                <a:latin typeface="Roboto" panose="02000000000000000000" pitchFamily="2" charset="0"/>
              </a:rPr>
              <a:t>Insight:</a:t>
            </a:r>
            <a:r>
              <a:rPr lang="en-US" sz="1800" b="0" i="0" dirty="0">
                <a:solidFill>
                  <a:srgbClr val="1F1F1F"/>
                </a:solidFill>
                <a:effectLst/>
                <a:latin typeface="Roboto" panose="02000000000000000000" pitchFamily="2" charset="0"/>
              </a:rPr>
              <a:t> Younger passengers tended to survive at higher rates than older passengers, with children having notably higher survival rates, indicating possible prioritization of children in rescue efforts.</a:t>
            </a:r>
            <a:endParaRPr lang="en-IN" sz="1800" dirty="0"/>
          </a:p>
        </p:txBody>
      </p:sp>
      <p:pic>
        <p:nvPicPr>
          <p:cNvPr id="5" name="Picture 4">
            <a:extLst>
              <a:ext uri="{FF2B5EF4-FFF2-40B4-BE49-F238E27FC236}">
                <a16:creationId xmlns:a16="http://schemas.microsoft.com/office/drawing/2014/main" id="{C5432A1F-7C7E-8A75-96D8-DC33A2BFABDD}"/>
              </a:ext>
            </a:extLst>
          </p:cNvPr>
          <p:cNvPicPr>
            <a:picLocks noChangeAspect="1"/>
          </p:cNvPicPr>
          <p:nvPr/>
        </p:nvPicPr>
        <p:blipFill>
          <a:blip r:embed="rId2"/>
          <a:stretch>
            <a:fillRect/>
          </a:stretch>
        </p:blipFill>
        <p:spPr>
          <a:xfrm>
            <a:off x="452488" y="131975"/>
            <a:ext cx="11368724" cy="4845377"/>
          </a:xfrm>
          <a:prstGeom prst="rect">
            <a:avLst/>
          </a:prstGeom>
        </p:spPr>
      </p:pic>
    </p:spTree>
    <p:extLst>
      <p:ext uri="{BB962C8B-B14F-4D97-AF65-F5344CB8AC3E}">
        <p14:creationId xmlns:p14="http://schemas.microsoft.com/office/powerpoint/2010/main" val="2363257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D868E5A-8373-2DBA-27B0-A5ACFE1B5C82}"/>
              </a:ext>
            </a:extLst>
          </p:cNvPr>
          <p:cNvSpPr>
            <a:spLocks noGrp="1"/>
          </p:cNvSpPr>
          <p:nvPr>
            <p:ph type="subTitle" idx="1"/>
          </p:nvPr>
        </p:nvSpPr>
        <p:spPr>
          <a:xfrm>
            <a:off x="179109" y="65988"/>
            <a:ext cx="11840066" cy="6617616"/>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endParaRPr lang="en-US" sz="1800" b="1" i="0" dirty="0">
              <a:solidFill>
                <a:srgbClr val="1F1F1F"/>
              </a:solidFill>
              <a:effectLst/>
              <a:latin typeface="Roboto" panose="02000000000000000000" pitchFamily="2" charset="0"/>
            </a:endParaRPr>
          </a:p>
          <a:p>
            <a:pPr algn="l"/>
            <a:r>
              <a:rPr lang="en-US" sz="1800" b="1" i="0" dirty="0">
                <a:solidFill>
                  <a:srgbClr val="1F1F1F"/>
                </a:solidFill>
                <a:effectLst/>
                <a:latin typeface="Roboto" panose="02000000000000000000" pitchFamily="2" charset="0"/>
              </a:rPr>
              <a:t>Insight:</a:t>
            </a:r>
            <a:r>
              <a:rPr lang="en-US" sz="1800" b="0" i="0" dirty="0">
                <a:solidFill>
                  <a:srgbClr val="1F1F1F"/>
                </a:solidFill>
                <a:effectLst/>
                <a:latin typeface="Roboto" panose="02000000000000000000" pitchFamily="2" charset="0"/>
              </a:rPr>
              <a:t> Passengers who paid higher fares, which likely correlates with higher passenger class, had better survival rates. The fare distribution is right-skewed, showing that most passengers paid lower fares.</a:t>
            </a:r>
            <a:endParaRPr lang="en-IN" sz="1800" dirty="0"/>
          </a:p>
        </p:txBody>
      </p:sp>
      <p:pic>
        <p:nvPicPr>
          <p:cNvPr id="5" name="Picture 4">
            <a:extLst>
              <a:ext uri="{FF2B5EF4-FFF2-40B4-BE49-F238E27FC236}">
                <a16:creationId xmlns:a16="http://schemas.microsoft.com/office/drawing/2014/main" id="{4679C679-9A66-7630-654F-ADF8707AD3A5}"/>
              </a:ext>
            </a:extLst>
          </p:cNvPr>
          <p:cNvPicPr>
            <a:picLocks noChangeAspect="1"/>
          </p:cNvPicPr>
          <p:nvPr/>
        </p:nvPicPr>
        <p:blipFill>
          <a:blip r:embed="rId2"/>
          <a:stretch>
            <a:fillRect/>
          </a:stretch>
        </p:blipFill>
        <p:spPr>
          <a:xfrm>
            <a:off x="435204" y="65987"/>
            <a:ext cx="11321591" cy="5307291"/>
          </a:xfrm>
          <a:prstGeom prst="rect">
            <a:avLst/>
          </a:prstGeom>
        </p:spPr>
      </p:pic>
    </p:spTree>
    <p:extLst>
      <p:ext uri="{BB962C8B-B14F-4D97-AF65-F5344CB8AC3E}">
        <p14:creationId xmlns:p14="http://schemas.microsoft.com/office/powerpoint/2010/main" val="3144836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B64221A-E7F5-B2EE-1A4D-24C84615B6A3}"/>
              </a:ext>
            </a:extLst>
          </p:cNvPr>
          <p:cNvSpPr>
            <a:spLocks noGrp="1"/>
          </p:cNvSpPr>
          <p:nvPr>
            <p:ph type="subTitle" idx="1"/>
          </p:nvPr>
        </p:nvSpPr>
        <p:spPr>
          <a:xfrm>
            <a:off x="282803" y="131975"/>
            <a:ext cx="11708091" cy="6598763"/>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endParaRPr lang="en-US" sz="1800" b="1" i="0" dirty="0">
              <a:solidFill>
                <a:srgbClr val="1F1F1F"/>
              </a:solidFill>
              <a:effectLst/>
              <a:latin typeface="Roboto" panose="02000000000000000000" pitchFamily="2" charset="0"/>
            </a:endParaRPr>
          </a:p>
          <a:p>
            <a:pPr algn="l"/>
            <a:endParaRPr lang="en-US" sz="1800" b="1" dirty="0">
              <a:solidFill>
                <a:srgbClr val="1F1F1F"/>
              </a:solidFill>
              <a:latin typeface="Roboto" panose="02000000000000000000" pitchFamily="2" charset="0"/>
            </a:endParaRPr>
          </a:p>
          <a:p>
            <a:pPr algn="l"/>
            <a:endParaRPr lang="en-US" sz="1800" b="1" i="0" dirty="0">
              <a:solidFill>
                <a:srgbClr val="1F1F1F"/>
              </a:solidFill>
              <a:effectLst/>
              <a:latin typeface="Roboto" panose="02000000000000000000" pitchFamily="2" charset="0"/>
            </a:endParaRPr>
          </a:p>
          <a:p>
            <a:pPr algn="l"/>
            <a:r>
              <a:rPr lang="en-US" sz="1800" b="1" i="0" dirty="0">
                <a:solidFill>
                  <a:srgbClr val="1F1F1F"/>
                </a:solidFill>
                <a:effectLst/>
                <a:latin typeface="Roboto" panose="02000000000000000000" pitchFamily="2" charset="0"/>
              </a:rPr>
              <a:t>Insight:</a:t>
            </a:r>
            <a:r>
              <a:rPr lang="en-US" sz="1800" b="0" i="0" dirty="0">
                <a:solidFill>
                  <a:srgbClr val="1F1F1F"/>
                </a:solidFill>
                <a:effectLst/>
                <a:latin typeface="Roboto" panose="02000000000000000000" pitchFamily="2" charset="0"/>
              </a:rPr>
              <a:t> Most passengers embarked from Southampton, which was the Titanic’s point of departure. This could influence survival rates and demographic patterns observed on board.</a:t>
            </a:r>
            <a:endParaRPr lang="en-IN" sz="1800" dirty="0"/>
          </a:p>
        </p:txBody>
      </p:sp>
      <p:pic>
        <p:nvPicPr>
          <p:cNvPr id="5" name="Picture 4">
            <a:extLst>
              <a:ext uri="{FF2B5EF4-FFF2-40B4-BE49-F238E27FC236}">
                <a16:creationId xmlns:a16="http://schemas.microsoft.com/office/drawing/2014/main" id="{D48D8D74-C0B9-FB85-76B4-C0F2E7274DAA}"/>
              </a:ext>
            </a:extLst>
          </p:cNvPr>
          <p:cNvPicPr>
            <a:picLocks noChangeAspect="1"/>
          </p:cNvPicPr>
          <p:nvPr/>
        </p:nvPicPr>
        <p:blipFill>
          <a:blip r:embed="rId2"/>
          <a:stretch>
            <a:fillRect/>
          </a:stretch>
        </p:blipFill>
        <p:spPr>
          <a:xfrm>
            <a:off x="458771" y="127261"/>
            <a:ext cx="11274458" cy="5396845"/>
          </a:xfrm>
          <a:prstGeom prst="rect">
            <a:avLst/>
          </a:prstGeom>
        </p:spPr>
      </p:pic>
    </p:spTree>
    <p:extLst>
      <p:ext uri="{BB962C8B-B14F-4D97-AF65-F5344CB8AC3E}">
        <p14:creationId xmlns:p14="http://schemas.microsoft.com/office/powerpoint/2010/main" val="921884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FA14F1F-A5F8-0F82-E734-4AC33C5D34FB}"/>
              </a:ext>
            </a:extLst>
          </p:cNvPr>
          <p:cNvSpPr>
            <a:spLocks noGrp="1"/>
          </p:cNvSpPr>
          <p:nvPr>
            <p:ph type="subTitle" idx="1"/>
          </p:nvPr>
        </p:nvSpPr>
        <p:spPr>
          <a:xfrm>
            <a:off x="197963" y="113121"/>
            <a:ext cx="11755225" cy="6608189"/>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endParaRPr lang="en-IN" sz="1800" b="1" dirty="0"/>
          </a:p>
          <a:p>
            <a:pPr algn="l"/>
            <a:r>
              <a:rPr lang="en-US" sz="1800" b="1" i="0" dirty="0">
                <a:solidFill>
                  <a:srgbClr val="1F1F1F"/>
                </a:solidFill>
                <a:effectLst/>
                <a:latin typeface="Roboto" panose="02000000000000000000" pitchFamily="2" charset="0"/>
              </a:rPr>
              <a:t>Insight: </a:t>
            </a:r>
            <a:r>
              <a:rPr lang="en-US" sz="1800" i="0" dirty="0">
                <a:solidFill>
                  <a:srgbClr val="1F1F1F"/>
                </a:solidFill>
                <a:effectLst/>
                <a:latin typeface="Roboto" panose="02000000000000000000" pitchFamily="2" charset="0"/>
              </a:rPr>
              <a:t>First class passengers tended to be older than those in third class, suggesting that wealthier, more established individuals were more likely to afford first-class accommodations.</a:t>
            </a:r>
            <a:endParaRPr lang="en-IN" sz="1800" dirty="0"/>
          </a:p>
        </p:txBody>
      </p:sp>
      <p:pic>
        <p:nvPicPr>
          <p:cNvPr id="5" name="Picture 4">
            <a:extLst>
              <a:ext uri="{FF2B5EF4-FFF2-40B4-BE49-F238E27FC236}">
                <a16:creationId xmlns:a16="http://schemas.microsoft.com/office/drawing/2014/main" id="{6DAC6BA7-8C01-0566-99F8-6C3A99C8E63C}"/>
              </a:ext>
            </a:extLst>
          </p:cNvPr>
          <p:cNvPicPr>
            <a:picLocks noChangeAspect="1"/>
          </p:cNvPicPr>
          <p:nvPr/>
        </p:nvPicPr>
        <p:blipFill>
          <a:blip r:embed="rId2"/>
          <a:stretch>
            <a:fillRect/>
          </a:stretch>
        </p:blipFill>
        <p:spPr>
          <a:xfrm>
            <a:off x="575035" y="113121"/>
            <a:ext cx="10906812" cy="5083403"/>
          </a:xfrm>
          <a:prstGeom prst="rect">
            <a:avLst/>
          </a:prstGeom>
        </p:spPr>
      </p:pic>
    </p:spTree>
    <p:extLst>
      <p:ext uri="{BB962C8B-B14F-4D97-AF65-F5344CB8AC3E}">
        <p14:creationId xmlns:p14="http://schemas.microsoft.com/office/powerpoint/2010/main" val="2682276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2559BD1-807A-E48A-520D-F6F4C7EC5EDD}"/>
              </a:ext>
            </a:extLst>
          </p:cNvPr>
          <p:cNvSpPr>
            <a:spLocks noGrp="1"/>
          </p:cNvSpPr>
          <p:nvPr>
            <p:ph type="subTitle" idx="1"/>
          </p:nvPr>
        </p:nvSpPr>
        <p:spPr>
          <a:xfrm>
            <a:off x="216816" y="122549"/>
            <a:ext cx="11717518" cy="6542202"/>
          </a:xfrm>
        </p:spPr>
        <p:txBody>
          <a:bodyPr>
            <a:norm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r>
              <a:rPr lang="en-US" sz="1800" b="1" i="0" dirty="0">
                <a:solidFill>
                  <a:srgbClr val="1F1F1F"/>
                </a:solidFill>
                <a:effectLst/>
                <a:latin typeface="Roboto" panose="02000000000000000000" pitchFamily="2" charset="0"/>
              </a:rPr>
              <a:t>Insight:</a:t>
            </a:r>
            <a:r>
              <a:rPr lang="en-US" sz="1800" b="0" i="0" dirty="0">
                <a:solidFill>
                  <a:srgbClr val="1F1F1F"/>
                </a:solidFill>
                <a:effectLst/>
                <a:latin typeface="Roboto" panose="02000000000000000000" pitchFamily="2" charset="0"/>
              </a:rPr>
              <a:t> This plot typically reveals that women had higher survival rates than men across all classes, with the highest survival rates among women in the first class, highlighting the "women and children first" policy and social norms of the era.</a:t>
            </a:r>
            <a:endParaRPr lang="en-IN" sz="1800" dirty="0"/>
          </a:p>
        </p:txBody>
      </p:sp>
      <p:pic>
        <p:nvPicPr>
          <p:cNvPr id="5" name="Picture 4">
            <a:extLst>
              <a:ext uri="{FF2B5EF4-FFF2-40B4-BE49-F238E27FC236}">
                <a16:creationId xmlns:a16="http://schemas.microsoft.com/office/drawing/2014/main" id="{6576302E-B0B8-62B4-DBDE-8F01C1E0F110}"/>
              </a:ext>
            </a:extLst>
          </p:cNvPr>
          <p:cNvPicPr>
            <a:picLocks noChangeAspect="1"/>
          </p:cNvPicPr>
          <p:nvPr/>
        </p:nvPicPr>
        <p:blipFill>
          <a:blip r:embed="rId2"/>
          <a:stretch>
            <a:fillRect/>
          </a:stretch>
        </p:blipFill>
        <p:spPr>
          <a:xfrm>
            <a:off x="509047" y="122549"/>
            <a:ext cx="11133056" cy="5184742"/>
          </a:xfrm>
          <a:prstGeom prst="rect">
            <a:avLst/>
          </a:prstGeom>
        </p:spPr>
      </p:pic>
    </p:spTree>
    <p:extLst>
      <p:ext uri="{BB962C8B-B14F-4D97-AF65-F5344CB8AC3E}">
        <p14:creationId xmlns:p14="http://schemas.microsoft.com/office/powerpoint/2010/main" val="598002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5578E37-FC3D-5303-9324-17E566ABAC98}"/>
              </a:ext>
            </a:extLst>
          </p:cNvPr>
          <p:cNvSpPr>
            <a:spLocks noGrp="1"/>
          </p:cNvSpPr>
          <p:nvPr>
            <p:ph type="subTitle" idx="1"/>
          </p:nvPr>
        </p:nvSpPr>
        <p:spPr>
          <a:xfrm>
            <a:off x="292231" y="160256"/>
            <a:ext cx="11717517" cy="6495068"/>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r>
              <a:rPr lang="en-US" sz="1800" b="1" i="0" dirty="0">
                <a:solidFill>
                  <a:srgbClr val="1F1F1F"/>
                </a:solidFill>
                <a:effectLst/>
                <a:latin typeface="Roboto" panose="02000000000000000000" pitchFamily="2" charset="0"/>
              </a:rPr>
              <a:t>Insight:</a:t>
            </a:r>
            <a:r>
              <a:rPr lang="en-US" sz="1800" b="0" i="0" dirty="0">
                <a:solidFill>
                  <a:srgbClr val="1F1F1F"/>
                </a:solidFill>
                <a:effectLst/>
                <a:latin typeface="Roboto" panose="02000000000000000000" pitchFamily="2" charset="0"/>
              </a:rPr>
              <a:t> This plot can show if passengers from certain ports paid more and were older or younger, which may correlate with the economic conditions of those ports or the passenger strategies for securing Titanic tickets.</a:t>
            </a:r>
            <a:endParaRPr lang="en-IN" sz="1800" dirty="0"/>
          </a:p>
        </p:txBody>
      </p:sp>
      <p:pic>
        <p:nvPicPr>
          <p:cNvPr id="5" name="Picture 4">
            <a:extLst>
              <a:ext uri="{FF2B5EF4-FFF2-40B4-BE49-F238E27FC236}">
                <a16:creationId xmlns:a16="http://schemas.microsoft.com/office/drawing/2014/main" id="{162E1D6A-5F9C-8FA8-3872-13309F472DE2}"/>
              </a:ext>
            </a:extLst>
          </p:cNvPr>
          <p:cNvPicPr>
            <a:picLocks noChangeAspect="1"/>
          </p:cNvPicPr>
          <p:nvPr/>
        </p:nvPicPr>
        <p:blipFill>
          <a:blip r:embed="rId2"/>
          <a:stretch>
            <a:fillRect/>
          </a:stretch>
        </p:blipFill>
        <p:spPr>
          <a:xfrm>
            <a:off x="641023" y="160256"/>
            <a:ext cx="10935092" cy="4949072"/>
          </a:xfrm>
          <a:prstGeom prst="rect">
            <a:avLst/>
          </a:prstGeom>
        </p:spPr>
      </p:pic>
    </p:spTree>
    <p:extLst>
      <p:ext uri="{BB962C8B-B14F-4D97-AF65-F5344CB8AC3E}">
        <p14:creationId xmlns:p14="http://schemas.microsoft.com/office/powerpoint/2010/main" val="2612592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FEFB61A-B031-FDCB-58AB-24B46D4AE458}"/>
              </a:ext>
            </a:extLst>
          </p:cNvPr>
          <p:cNvSpPr>
            <a:spLocks noGrp="1"/>
          </p:cNvSpPr>
          <p:nvPr>
            <p:ph type="subTitle" idx="1"/>
          </p:nvPr>
        </p:nvSpPr>
        <p:spPr>
          <a:xfrm>
            <a:off x="292231" y="94268"/>
            <a:ext cx="11726944" cy="6589336"/>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endParaRPr lang="en-IN" sz="1800" dirty="0"/>
          </a:p>
          <a:p>
            <a:pPr algn="l"/>
            <a:r>
              <a:rPr lang="en-US" sz="1800" b="1" i="0" dirty="0">
                <a:solidFill>
                  <a:srgbClr val="1F1F1F"/>
                </a:solidFill>
                <a:effectLst/>
                <a:latin typeface="Roboto" panose="02000000000000000000" pitchFamily="2" charset="0"/>
              </a:rPr>
              <a:t>Insight:</a:t>
            </a:r>
            <a:r>
              <a:rPr lang="en-US" sz="1800" b="0" i="0" dirty="0">
                <a:solidFill>
                  <a:srgbClr val="1F1F1F"/>
                </a:solidFill>
                <a:effectLst/>
                <a:latin typeface="Roboto" panose="02000000000000000000" pitchFamily="2" charset="0"/>
              </a:rPr>
              <a:t> Passengers on higher decks may have had better access to lifeboats, thus higher survival rates, indicating the importance of cabin placement.</a:t>
            </a:r>
            <a:endParaRPr lang="en-IN" sz="1800" dirty="0"/>
          </a:p>
          <a:p>
            <a:endParaRPr lang="en-IN" dirty="0"/>
          </a:p>
        </p:txBody>
      </p:sp>
      <p:pic>
        <p:nvPicPr>
          <p:cNvPr id="5" name="Picture 4">
            <a:extLst>
              <a:ext uri="{FF2B5EF4-FFF2-40B4-BE49-F238E27FC236}">
                <a16:creationId xmlns:a16="http://schemas.microsoft.com/office/drawing/2014/main" id="{9EF9FFCA-E9A8-C90F-C7B2-0F4D56EC7EB8}"/>
              </a:ext>
            </a:extLst>
          </p:cNvPr>
          <p:cNvPicPr>
            <a:picLocks noChangeAspect="1"/>
          </p:cNvPicPr>
          <p:nvPr/>
        </p:nvPicPr>
        <p:blipFill>
          <a:blip r:embed="rId2"/>
          <a:stretch>
            <a:fillRect/>
          </a:stretch>
        </p:blipFill>
        <p:spPr>
          <a:xfrm>
            <a:off x="414780" y="94267"/>
            <a:ext cx="11484989" cy="4883085"/>
          </a:xfrm>
          <a:prstGeom prst="rect">
            <a:avLst/>
          </a:prstGeom>
        </p:spPr>
      </p:pic>
    </p:spTree>
    <p:extLst>
      <p:ext uri="{BB962C8B-B14F-4D97-AF65-F5344CB8AC3E}">
        <p14:creationId xmlns:p14="http://schemas.microsoft.com/office/powerpoint/2010/main" val="2199202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C8405FC-5CAF-E8BB-F295-BBE552189473}"/>
              </a:ext>
            </a:extLst>
          </p:cNvPr>
          <p:cNvSpPr>
            <a:spLocks noGrp="1"/>
          </p:cNvSpPr>
          <p:nvPr>
            <p:ph type="subTitle" idx="1"/>
          </p:nvPr>
        </p:nvSpPr>
        <p:spPr>
          <a:xfrm>
            <a:off x="169681" y="179109"/>
            <a:ext cx="11774079" cy="6513922"/>
          </a:xfrm>
        </p:spPr>
        <p:txBody>
          <a:bodyPr>
            <a:norm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endParaRPr lang="en-IN" sz="1800" dirty="0"/>
          </a:p>
          <a:p>
            <a:pPr algn="l"/>
            <a:r>
              <a:rPr lang="en-US" sz="1800" b="1" i="0" dirty="0">
                <a:solidFill>
                  <a:srgbClr val="1F1F1F"/>
                </a:solidFill>
                <a:effectLst/>
                <a:latin typeface="Roboto" panose="02000000000000000000" pitchFamily="2" charset="0"/>
              </a:rPr>
              <a:t>Insight:</a:t>
            </a:r>
            <a:r>
              <a:rPr lang="en-US" sz="1800" b="0" i="0" dirty="0">
                <a:solidFill>
                  <a:srgbClr val="1F1F1F"/>
                </a:solidFill>
                <a:effectLst/>
                <a:latin typeface="Roboto" panose="02000000000000000000" pitchFamily="2" charset="0"/>
              </a:rPr>
              <a:t> Medium-sized families might have had higher survival rates due to better support systems, while those traveling alone or with very large families might have faced more challenges.</a:t>
            </a:r>
            <a:endParaRPr lang="en-IN" sz="1800" dirty="0"/>
          </a:p>
        </p:txBody>
      </p:sp>
      <p:pic>
        <p:nvPicPr>
          <p:cNvPr id="5" name="Picture 4">
            <a:extLst>
              <a:ext uri="{FF2B5EF4-FFF2-40B4-BE49-F238E27FC236}">
                <a16:creationId xmlns:a16="http://schemas.microsoft.com/office/drawing/2014/main" id="{CAB93949-422B-1752-CF76-FAC651F9FDB1}"/>
              </a:ext>
            </a:extLst>
          </p:cNvPr>
          <p:cNvPicPr>
            <a:picLocks noChangeAspect="1"/>
          </p:cNvPicPr>
          <p:nvPr/>
        </p:nvPicPr>
        <p:blipFill>
          <a:blip r:embed="rId2"/>
          <a:stretch>
            <a:fillRect/>
          </a:stretch>
        </p:blipFill>
        <p:spPr>
          <a:xfrm>
            <a:off x="433633" y="259206"/>
            <a:ext cx="11133056" cy="5038658"/>
          </a:xfrm>
          <a:prstGeom prst="rect">
            <a:avLst/>
          </a:prstGeom>
        </p:spPr>
      </p:pic>
    </p:spTree>
    <p:extLst>
      <p:ext uri="{BB962C8B-B14F-4D97-AF65-F5344CB8AC3E}">
        <p14:creationId xmlns:p14="http://schemas.microsoft.com/office/powerpoint/2010/main" val="4179641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0DB1E18-9CC6-008D-9EFA-1127E8FC7374}"/>
              </a:ext>
            </a:extLst>
          </p:cNvPr>
          <p:cNvSpPr>
            <a:spLocks noGrp="1"/>
          </p:cNvSpPr>
          <p:nvPr>
            <p:ph type="subTitle" idx="1"/>
          </p:nvPr>
        </p:nvSpPr>
        <p:spPr>
          <a:xfrm>
            <a:off x="235670" y="179109"/>
            <a:ext cx="11774078" cy="6485642"/>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lgn="l"/>
            <a:endParaRPr lang="en-IN" sz="1800" dirty="0"/>
          </a:p>
          <a:p>
            <a:pPr algn="l"/>
            <a:endParaRPr lang="en-US" sz="1800" b="1" i="0" dirty="0">
              <a:solidFill>
                <a:srgbClr val="1F1F1F"/>
              </a:solidFill>
              <a:effectLst/>
              <a:latin typeface="Roboto" panose="02000000000000000000" pitchFamily="2" charset="0"/>
            </a:endParaRPr>
          </a:p>
          <a:p>
            <a:pPr algn="l"/>
            <a:r>
              <a:rPr lang="en-US" sz="1800" b="1" i="0" dirty="0">
                <a:solidFill>
                  <a:srgbClr val="1F1F1F"/>
                </a:solidFill>
                <a:effectLst/>
                <a:latin typeface="Roboto" panose="02000000000000000000" pitchFamily="2" charset="0"/>
              </a:rPr>
              <a:t>Insight:</a:t>
            </a:r>
            <a:r>
              <a:rPr lang="en-US" sz="1800" b="0" i="0" dirty="0">
                <a:solidFill>
                  <a:srgbClr val="1F1F1F"/>
                </a:solidFill>
                <a:effectLst/>
                <a:latin typeface="Roboto" panose="02000000000000000000" pitchFamily="2" charset="0"/>
              </a:rPr>
              <a:t> This plot may reveal if younger or older passengers in certain classes were more likely to survive, possibly due to their physical ability, location of cabins relative to lifeboats, or the prioritization of rescue efforts</a:t>
            </a:r>
            <a:r>
              <a:rPr lang="en-US" b="0" i="0" dirty="0">
                <a:solidFill>
                  <a:srgbClr val="1F1F1F"/>
                </a:solidFill>
                <a:effectLst/>
                <a:latin typeface="Roboto" panose="02000000000000000000" pitchFamily="2" charset="0"/>
              </a:rPr>
              <a:t>.</a:t>
            </a:r>
            <a:endParaRPr lang="en-IN" dirty="0"/>
          </a:p>
        </p:txBody>
      </p:sp>
      <p:pic>
        <p:nvPicPr>
          <p:cNvPr id="5" name="Picture 4">
            <a:extLst>
              <a:ext uri="{FF2B5EF4-FFF2-40B4-BE49-F238E27FC236}">
                <a16:creationId xmlns:a16="http://schemas.microsoft.com/office/drawing/2014/main" id="{0669D4DF-300A-D944-3691-7D5C94CF30F4}"/>
              </a:ext>
            </a:extLst>
          </p:cNvPr>
          <p:cNvPicPr>
            <a:picLocks noChangeAspect="1"/>
          </p:cNvPicPr>
          <p:nvPr/>
        </p:nvPicPr>
        <p:blipFill>
          <a:blip r:embed="rId2"/>
          <a:stretch>
            <a:fillRect/>
          </a:stretch>
        </p:blipFill>
        <p:spPr>
          <a:xfrm>
            <a:off x="454058" y="103695"/>
            <a:ext cx="11283884" cy="5165889"/>
          </a:xfrm>
          <a:prstGeom prst="rect">
            <a:avLst/>
          </a:prstGeom>
        </p:spPr>
      </p:pic>
    </p:spTree>
    <p:extLst>
      <p:ext uri="{BB962C8B-B14F-4D97-AF65-F5344CB8AC3E}">
        <p14:creationId xmlns:p14="http://schemas.microsoft.com/office/powerpoint/2010/main" val="2843618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89477-1198-270F-56FB-EE1C62451B7F}"/>
              </a:ext>
            </a:extLst>
          </p:cNvPr>
          <p:cNvSpPr>
            <a:spLocks noGrp="1"/>
          </p:cNvSpPr>
          <p:nvPr>
            <p:ph type="ctrTitle"/>
          </p:nvPr>
        </p:nvSpPr>
        <p:spPr>
          <a:xfrm>
            <a:off x="1524000" y="480768"/>
            <a:ext cx="9144000" cy="1338606"/>
          </a:xfrm>
        </p:spPr>
        <p:txBody>
          <a:bodyPr/>
          <a:lstStyle/>
          <a:p>
            <a:r>
              <a:rPr lang="en-IN" dirty="0"/>
              <a:t>SUMMARY</a:t>
            </a:r>
          </a:p>
        </p:txBody>
      </p:sp>
      <p:sp>
        <p:nvSpPr>
          <p:cNvPr id="3" name="Subtitle 2">
            <a:extLst>
              <a:ext uri="{FF2B5EF4-FFF2-40B4-BE49-F238E27FC236}">
                <a16:creationId xmlns:a16="http://schemas.microsoft.com/office/drawing/2014/main" id="{EBDE54DF-CFC3-0424-562B-94590BC9B0AA}"/>
              </a:ext>
            </a:extLst>
          </p:cNvPr>
          <p:cNvSpPr>
            <a:spLocks noGrp="1"/>
          </p:cNvSpPr>
          <p:nvPr>
            <p:ph type="subTitle" idx="1"/>
          </p:nvPr>
        </p:nvSpPr>
        <p:spPr>
          <a:xfrm>
            <a:off x="1112363" y="1960774"/>
            <a:ext cx="10275216" cy="3450211"/>
          </a:xfrm>
        </p:spPr>
        <p:txBody>
          <a:bodyPr/>
          <a:lstStyle/>
          <a:p>
            <a:pPr marL="342900" indent="-342900" algn="l">
              <a:buFontTx/>
              <a:buChar char="-"/>
            </a:pPr>
            <a:r>
              <a:rPr lang="en-US" dirty="0"/>
              <a:t>Women had a higher survival rate than men.</a:t>
            </a:r>
          </a:p>
          <a:p>
            <a:pPr marL="342900" indent="-342900" algn="l">
              <a:buFontTx/>
              <a:buChar char="-"/>
            </a:pPr>
            <a:r>
              <a:rPr lang="en-US" dirty="0"/>
              <a:t>First-class passengers were more likely to survive.</a:t>
            </a:r>
          </a:p>
          <a:p>
            <a:pPr algn="l"/>
            <a:r>
              <a:rPr lang="en-US" dirty="0"/>
              <a:t>-   Age and embarkation port showed subtle patterns.</a:t>
            </a:r>
            <a:endParaRPr lang="en-IN" dirty="0"/>
          </a:p>
        </p:txBody>
      </p:sp>
    </p:spTree>
    <p:extLst>
      <p:ext uri="{BB962C8B-B14F-4D97-AF65-F5344CB8AC3E}">
        <p14:creationId xmlns:p14="http://schemas.microsoft.com/office/powerpoint/2010/main" val="3692812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394</Words>
  <Application>Microsoft Office PowerPoint</Application>
  <PresentationFormat>Widescreen</PresentationFormat>
  <Paragraphs>130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Roboto</vt:lpstr>
      <vt:lpstr>Office Theme</vt:lpstr>
      <vt:lpstr>TITANIC DATA VISUALIZATION</vt:lpstr>
      <vt:lpstr>Overview of the Titanic Dataset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Swati Negi</dc:creator>
  <cp:lastModifiedBy>Swati Negi</cp:lastModifiedBy>
  <cp:revision>1</cp:revision>
  <dcterms:created xsi:type="dcterms:W3CDTF">2025-04-14T14:25:43Z</dcterms:created>
  <dcterms:modified xsi:type="dcterms:W3CDTF">2025-04-14T14:25:43Z</dcterms:modified>
</cp:coreProperties>
</file>